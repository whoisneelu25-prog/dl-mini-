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Topic: Artificial Intelligence in Healthcare</a:t>
            </a:r>
          </a:p>
          <a:p>
            <a:r>
              <a:t>Objective: Explain how AI is transforming healthcare diagnosis and patient care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Allocated Pacing: 1.5 min</a:t>
            </a:r>
          </a:p>
          <a:p/>
          <a:p>
            <a:r>
              <a:t>Slide Purpose: Introduce the role and transformational potential of AI in modern clinical workflows.</a:t>
            </a:r>
          </a:p>
          <a:p/>
          <a:p>
            <a:r>
              <a:t>Case Study / Real-World Application:</a:t>
            </a:r>
          </a:p>
          <a:p>
            <a:r>
              <a:t>FDA approval of autonomous AI diagnostic devices for early diabetic retinopathy detection without ophthalmologist intervention.</a:t>
            </a:r>
          </a:p>
          <a:p/>
          <a:p>
            <a:r>
              <a:t>Speaker Notes:</a:t>
            </a:r>
          </a:p>
          <a:p>
            <a:r>
              <a:t>Welcome the audience. Emphasize that AI in medicine acts as an assistive decision tool rather than a replacement for clinical judgment.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Allocated Pacing: 1.5 min</a:t>
            </a:r>
          </a:p>
          <a:p/>
          <a:p>
            <a:r>
              <a:t>Slide Purpose: Examine historical milestones leading to modern clinical transformers.</a:t>
            </a:r>
          </a:p>
          <a:p/>
          <a:p>
            <a:r>
              <a:t>Case Study / Real-World Application:</a:t>
            </a:r>
          </a:p>
          <a:p>
            <a:r>
              <a:t>Stanford CheXNeXt model matching 11 practicing radiologists across 14 distinct chest radiograph pathologies.</a:t>
            </a:r>
          </a:p>
          <a:p/>
          <a:p>
            <a:r>
              <a:t>Speaker Notes:</a:t>
            </a:r>
          </a:p>
          <a:p>
            <a:r>
              <a:t>Highlight how dataset availability (such as MIMIC and ImageNet) unlocked rapid breakthroughs over the past decade.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Allocated Pacing: 1.5 min</a:t>
            </a:r>
          </a:p>
          <a:p/>
          <a:p>
            <a:r>
              <a:t>Slide Purpose: Explain the principal deep learning architectures powering healthcare intelligence.</a:t>
            </a:r>
          </a:p>
          <a:p/>
          <a:p>
            <a:r>
              <a:t>Case Study / Real-World Application:</a:t>
            </a:r>
          </a:p>
          <a:p>
            <a:r>
              <a:t>DeepMind AlphaFold resolving the 3D structure of over 200 million cataloged proteins, compressing decades of wet-lab research.</a:t>
            </a:r>
          </a:p>
          <a:p/>
          <a:p>
            <a:r>
              <a:t>Speaker Notes:</a:t>
            </a:r>
          </a:p>
          <a:p>
            <a:r>
              <a:t>Clarify the difference between vision networks for CT/MRI scans and language models for unstructured clinical progress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Allocated Pacing: 1.5 min</a:t>
            </a:r>
          </a:p>
          <a:p/>
          <a:p>
            <a:r>
              <a:t>Slide Purpose: Analyze computer-aided detection and real-time clinical screening pipelines.</a:t>
            </a:r>
          </a:p>
          <a:p/>
          <a:p>
            <a:r>
              <a:t>Case Study / Real-World Application:</a:t>
            </a:r>
          </a:p>
          <a:p>
            <a:r>
              <a:t>Johns Hopkins hospital deployment of machine learning early-warning algorithms reducing sepsis patient mortality by 18.2%.</a:t>
            </a:r>
          </a:p>
          <a:p/>
          <a:p>
            <a:r>
              <a:t>Speaker Notes:</a:t>
            </a:r>
          </a:p>
          <a:p>
            <a:r>
              <a:t>Explain to the audience that early triage in emergency departments saves lives by directing specialist attention where most critical.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Allocated Pacing: 1.5 min</a:t>
            </a:r>
          </a:p>
          <a:p/>
          <a:p>
            <a:r>
              <a:t>Slide Purpose: Demonstrate applied clinical operations, remote monitoring, and workflow optimization.</a:t>
            </a:r>
          </a:p>
          <a:p/>
          <a:p>
            <a:r>
              <a:t>Case Study / Real-World Application:</a:t>
            </a:r>
          </a:p>
          <a:p>
            <a:r>
              <a:t>Epic Systems ambient listening copilot eliminating 1.5 hours of physician administrative charting per clinical shift.</a:t>
            </a:r>
          </a:p>
          <a:p/>
          <a:p>
            <a:r>
              <a:t>Speaker Notes:</a:t>
            </a:r>
          </a:p>
          <a:p>
            <a:r>
              <a:t>Point out that physician burnout is directly mitigated through intelligent transcription and documentation automation.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Allocated Pacing: 1.5 min</a:t>
            </a:r>
          </a:p>
          <a:p/>
          <a:p>
            <a:r>
              <a:t>Slide Purpose: Critically evaluate clinical advantages alongside privacy, bias, and regulatory bottlenecks.</a:t>
            </a:r>
          </a:p>
          <a:p/>
          <a:p>
            <a:r>
              <a:t>Case Study / Real-World Application:</a:t>
            </a:r>
          </a:p>
          <a:p>
            <a:r>
              <a:t>Empirical study revealing diagnostic performance degradation when skin lesion algorithms were tested across diverse under-represented skin tones.</a:t>
            </a:r>
          </a:p>
          <a:p/>
          <a:p>
            <a:r>
              <a:t>Speaker Notes:</a:t>
            </a:r>
          </a:p>
          <a:p>
            <a:r>
              <a:t>Highlight that algorithm fairness and representative training data are vital for equitable patient health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Allocated Pacing: 1.5 min</a:t>
            </a:r>
          </a:p>
          <a:p/>
          <a:p>
            <a:r>
              <a:t>Slide Purpose: Explore next-generation frontiers in personalized genomics and federated health networks.</a:t>
            </a:r>
          </a:p>
          <a:p/>
          <a:p>
            <a:r>
              <a:t>Case Study / Real-World Application:</a:t>
            </a:r>
          </a:p>
          <a:p>
            <a:r>
              <a:t>Consortium of 20 cancer centers across Europe training federated glioma segmentation models preserving GDPR patient privacy.</a:t>
            </a:r>
          </a:p>
          <a:p/>
          <a:p>
            <a:r>
              <a:t>Speaker Notes:</a:t>
            </a:r>
          </a:p>
          <a:p>
            <a:r>
              <a:t>Discuss how federated learning overcomes the legal and institutional barriers to sharing sensitive health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Allocated Pacing: 1.5 min</a:t>
            </a:r>
          </a:p>
          <a:p/>
          <a:p>
            <a:r>
              <a:t>Slide Purpose: Synthesize key insights and establish future principles for human-in-the-loop AI integration.</a:t>
            </a:r>
          </a:p>
          <a:p/>
          <a:p>
            <a:r>
              <a:t>Case Study / Real-World Application:</a:t>
            </a:r>
          </a:p>
          <a:p>
            <a:r>
              <a:t>AMA position paper formalizing 'Augmented Intelligence' as the collaborative future standard for healthcare technology.</a:t>
            </a:r>
          </a:p>
          <a:p/>
          <a:p>
            <a:r>
              <a:t>Speaker Notes:</a:t>
            </a:r>
          </a:p>
          <a:p>
            <a:r>
              <a:t>Conclude by summarizing the core message: the most effective healthcare systems combine human empathy with machine precision.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0F172A"/>
                </a:solidFill>
              </a:defRPr>
            </a:pPr>
            <a:r>
              <a:t>Artificial Intelligence in Healthcare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93192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75569"/>
                </a:solidFill>
              </a:defRPr>
            </a:pPr>
            <a:r>
              <a:t>Explain how AI is transforming healthcare diagnosis and patient care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2920"/>
            <a:ext cx="10362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Introduction to Artificial Intelligence in Healthcare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75569"/>
                </a:solidFill>
              </a:defRPr>
            </a:pPr>
            <a:r>
              <a:t>Introduce the role and transformational potential of AI in modern clinical workflows.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3628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Overview and definition of artificial intelligence applied to clinical biomedical systems.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Transition from rule-based medical expert systems to statistical deep learning representations.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Major clinical domains: automated radiologic imaging, electronic health record intelligence, and oncology.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2920"/>
            <a:ext cx="10362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Evolution and Background of Healthcare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75569"/>
                </a:solidFill>
              </a:defRPr>
            </a:pPr>
            <a:r>
              <a:t>Examine historical milestones leading to modern clinical transformers.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3628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Early expert systems like MYCIN and rule-based diagnostic trees in clinical medicine.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Advent of convolutional neural networks (CNNs) revolutionizing 2D and 3D medical image segmentation.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Scaling laws and multimodal vision-language transformers synthesizing clinical text and imaging.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2920"/>
            <a:ext cx="10362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Core AI Technologies Used in Clinical Medicine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75569"/>
                </a:solidFill>
              </a:defRPr>
            </a:pPr>
            <a:r>
              <a:t>Explain the principal deep learning architectures powering healthcare intelligence.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3628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3D Convolutional Neural Networks and U-Net architectures for volumetric organ segmentation.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Biomedical Transformer Language Models (BioBERT, ClinicalBERT) for automated pathology report parsing.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Graph Neural Networks modeling molecular protein structures and biochemical drug interactions.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2920"/>
            <a:ext cx="10362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AI-Based Medical Diagnosis and Pathology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75569"/>
                </a:solidFill>
              </a:defRPr>
            </a:pPr>
            <a:r>
              <a:t>Analyze computer-aided detection and real-time clinical screening pipelines.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3628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Computer-aided detection algorithms screening high-resolution digital mammography.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Automated lesion identification and boundary delimitation in digital pathology whole-slide images.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Risk stratification algorithms flagging imminent hemodynamic instability in intensive care units.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2920"/>
            <a:ext cx="10362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Real-World Healthcare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75569"/>
                </a:solidFill>
              </a:defRPr>
            </a:pPr>
            <a:r>
              <a:t>Demonstrate applied clinical operations, remote monitoring, and workflow optimization.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3628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Continuous wearable sensor monitoring detecting cardiac arrhythmias and atrial fibrillation episodes.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Generative ambient clinical documentation synthesizing physician-patient dialogues into structured EHR entries.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Robotic surgical assistance offering sub-millimeter instrument guidance and tremor suppression.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2920"/>
            <a:ext cx="10362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System Benefits and Critical Implementation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75569"/>
                </a:solidFill>
              </a:defRPr>
            </a:pPr>
            <a:r>
              <a:t>Critically evaluate clinical advantages alongside privacy, bias, and regulatory bottlenecks.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3628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Quantifiable benefits: reduced diagnostic latency, triage accuracy, and equalized access in underserved regions.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Critical challenges: dataset bias, lack of out-of-distribution model robustness, and adversarial noise sensitivity.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Privacy and governance: HIPAA compliance, patient consent protocols, and European AI Act high-risk classifications.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2920"/>
            <a:ext cx="10362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Future Horizons and Emerging AI Paradigms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75569"/>
                </a:solidFill>
              </a:defRPr>
            </a:pPr>
            <a:r>
              <a:t>Explore next-generation frontiers in personalized genomics and federated health networks.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3628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Federated learning paradigms training global biomedical models across hospitals without transmitting sensitive patient records.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Precision medicine algorithms mapping single-cell RNA sequencing data to personalized oncology therapies.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Multimodal foundation models providing unified interactive reasoning across imaging, lab panels, and clinical histories.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02920"/>
            <a:ext cx="10362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3628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Conclusion and Strategic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75569"/>
                </a:solidFill>
              </a:defRPr>
            </a:pPr>
            <a:r>
              <a:t>Synthesize key insights and establish future principles for human-in-the-loop AI integration.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3628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AI serves as an indispensable cognitive amplifier for physicians, not an autonomous clinician substitute.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Rigorous prospective randomized clinical trials are required before wide-scale hospital algorithm deployment.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•   Interdisciplinary synergy between machine learning engineers and clinicians is essential for meaningful impact.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